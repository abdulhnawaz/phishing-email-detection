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Train Acc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92.1</c:v>
                </c:pt>
                <c:pt idx="1">
                  <c:v>98.1</c:v>
                </c:pt>
                <c:pt idx="2">
                  <c:v>98.6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348-48C4-BB8E-CB82E817B4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 Val Acc</c:v>
                </c:pt>
              </c:strCache>
            </c:strRef>
          </c:tx>
          <c:spPr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96.9</c:v>
                </c:pt>
                <c:pt idx="1">
                  <c:v>96.6</c:v>
                </c:pt>
                <c:pt idx="2">
                  <c:v>96.8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348-48C4-BB8E-CB82E817B4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LSTM Train Acc</c:v>
                </c:pt>
              </c:strCache>
            </c:strRef>
          </c:tx>
          <c:spPr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91.5</c:v>
                </c:pt>
                <c:pt idx="1">
                  <c:v>94.8</c:v>
                </c:pt>
                <c:pt idx="2">
                  <c:v>97.6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348-48C4-BB8E-CB82E817B4F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LSTM Val Acc</c:v>
                </c:pt>
              </c:strCache>
            </c:strRef>
          </c:tx>
          <c:spPr>
            <a:ln w="31750" cap="flat">
              <a:solidFill>
                <a:srgbClr val="94A3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96.4</c:v>
                </c:pt>
                <c:pt idx="1">
                  <c:v>95.1</c:v>
                </c:pt>
                <c:pt idx="2">
                  <c:v>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4348-48C4-BB8E-CB82E817B4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79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10972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Phishing Email Detection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B8A6"/>
                </a:solidFill>
              </a:rPr>
              <a:t>Using Deep Learning &amp; Machine Learning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68580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Abdul-Hannaan Nawaz   |   BSc (Hons) Computer Science, Level 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Supervisors: Sadaqat ur Rehman &amp; Muhammad Hammad Saleem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160520"/>
            <a:ext cx="18745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41879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4553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Models Compared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4160520"/>
            <a:ext cx="18745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80360" y="41879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97.2%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80360" y="4553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Best Accuracy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4160520"/>
            <a:ext cx="18745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41879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99.0%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4553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Best Recall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4160520"/>
            <a:ext cx="18745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12280" y="41879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18,640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4553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Emails Analysed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Background &amp;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89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Phishing tripled 2020–2022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Monthly attacks rose from 68,000–94,000 in 2020 to over 200,000 by 2022 (APWG, 2023)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8424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90% of data breaches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9514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The 2021 CISO Cybersecurity Threat Report attributed 90% of 2020 breaches to phishing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73405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734056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Traditional methods fail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044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Blacklists, heuristics and classical ML struggle against zero-day and spear-phishing attacks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48386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483864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538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Deep learning opportunity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CNN, LSTM and DistilBERT learn directly from raw text — no manual feature engineering needed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23367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4233672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2885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Research gap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5445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Few studies compare all three architectures under identical conditions on the same dataset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Aim &amp;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AIM: Develop and systematically evaluate six ML/DL models for phishing detection under identical conditions to determine the most effective approach.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2075688"/>
            <a:ext cx="329184" cy="3291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Review existing literature, identify research gaps (Dec 2025)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551176"/>
            <a:ext cx="329184" cy="3291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48716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Preprocess a labelled phishing dataset with consistent pipeline (Oct 2025)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26664"/>
            <a:ext cx="329184" cy="3291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962656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Implement CNN, LSTM, DistilBERT + Logistic Regression, SVM, Naive Bayes (Nov 2025)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502152"/>
            <a:ext cx="329184" cy="3291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502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438144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Train &amp; evaluate all six models using Accuracy, Precision, Recall, F1-Score (Dec 2025)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977640"/>
            <a:ext cx="329184" cy="3291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91363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Produce a reproducible comparative benchmark (Apr 2026)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453128"/>
            <a:ext cx="329184" cy="3291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3891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Critically reflect on design decisions, deviations and lessons learnt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Methodology &amp;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CRISP-DM Framework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Business Understanding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Classify phishing vs safe emails accurately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21408"/>
            <a:ext cx="411480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1396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Data Understanding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Explore dataset structure &amp; class distribution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4261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642616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6609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Data Preparation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8712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Clean, lemmatise, tokenise, split 70/15/15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63824"/>
            <a:ext cx="411480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163824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182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Modelling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3924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Train 6 models on identical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685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685032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7033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Accuracy, Precision, Recall, F1-Score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206240"/>
            <a:ext cx="411480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420624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4224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434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Interpret results &amp; practical implications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</a:rPr>
              <a:t>Dataset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54880" y="160020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16642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</a:rPr>
              <a:t>18,640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72200" y="16642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Total emails (after cleaning)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9204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</a:rPr>
              <a:t>13,048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172200" y="19933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Training (70%)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92040" y="23225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</a:rPr>
              <a:t>2,796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172200" y="23225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Validation (15%)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92040" y="2651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</a:rPr>
              <a:t>2,796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172200" y="2651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Test (15%)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54880" y="32004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92040" y="3246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Preprocessing Pipeline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92040" y="36301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→  Lowercase + remove special characters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92040" y="38862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→  Stop word removal (NLTK)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4142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→  Lemmatisation (WordNetLemmatizer)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92040" y="43982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→  TF-IDF (classical) / Keras Tokenizer (DL)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92040" y="4654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→  DistilBertTokenizerFast (BERT)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Architectures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834640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" y="117957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Logistic Regression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" y="1645920"/>
            <a:ext cx="1097280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" y="1645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Classical ML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94767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Linear classifier, max 1000 iterations, TF-IDF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1143000"/>
            <a:ext cx="2834640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64408" y="117957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SVM (LinearSVC)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64408" y="1645920"/>
            <a:ext cx="1097280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64408" y="1645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Classical ML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4408" y="194767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Optimal hyperplane, high-dim TF-IDF, efficient for text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14300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1143000"/>
            <a:ext cx="2834640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0488" y="117957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Naive Bayes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0488" y="1645920"/>
            <a:ext cx="1097280" cy="21945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0488" y="1645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Classical ML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90488" y="194767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MultinomialNB, Bayes' theorem, competitive on text tasks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78892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" y="2788920"/>
            <a:ext cx="28346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" y="28254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CNN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38328" y="3291840"/>
            <a:ext cx="1097280" cy="219456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8328" y="3291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</a:rPr>
              <a:t>Deep Learning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" y="359359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Embedding→Conv1D(128,k=5)→MaxPool→Dropout(0.5)→Dense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278892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154680" y="2788920"/>
            <a:ext cx="28346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64408" y="28254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LSTM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264408" y="3291840"/>
            <a:ext cx="1097280" cy="219456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64408" y="3291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</a:rPr>
              <a:t>Deep Learning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64408" y="359359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Embedding→LSTM(128)→Dropout(0.5)→Sigmoid, BPTT gating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0760" y="278892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80760" y="2788920"/>
            <a:ext cx="283464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90488" y="28254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DistilBERT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190488" y="3291840"/>
            <a:ext cx="1097280" cy="219456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90488" y="32918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Transformer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0488" y="359359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distilbert-base-uncased, fine-tuned 500 examples, AdamW 2e-5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4434840"/>
            <a:ext cx="8686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44531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0AF"/>
                </a:solidFill>
              </a:rPr>
              <a:t>All deep learning models: Adam optimiser · Binary cross-entropy loss · Up to 5 epochs · Early stopping (patience=2) · Batch size 32   |   Classical models: TF-IDF (5,000 features)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 — Model Performance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097280"/>
            <a:ext cx="1554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1097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097280"/>
            <a:ext cx="1554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0" y="1097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1097280"/>
            <a:ext cx="1554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94960" y="1097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Recall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1097280"/>
            <a:ext cx="1554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0" y="1097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F1-Score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481328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4813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1481328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31720" y="14813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96.4%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0" y="1481328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86200" y="14813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94.5%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94960" y="1481328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40680" y="14813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96.4%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1481328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95160" y="14813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95.4%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1947672"/>
            <a:ext cx="20116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19476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6534"/>
                </a:solidFill>
              </a:rPr>
              <a:t>SVM ⭐ Best Overall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1947672"/>
            <a:ext cx="15544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331720" y="19476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</a:rPr>
              <a:t>97.2%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840480" y="1947672"/>
            <a:ext cx="15544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86200" y="19476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</a:rPr>
              <a:t>94.9%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94960" y="1947672"/>
            <a:ext cx="15544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40680" y="19476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</a:rPr>
              <a:t>98.2%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49440" y="1947672"/>
            <a:ext cx="15544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95160" y="19476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</a:rPr>
              <a:t>96.5%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1947672"/>
            <a:ext cx="5486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241401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24140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Naive Bayes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0" y="2414016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331720" y="241401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95.2%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840480" y="2414016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886200" y="241401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93.1%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394960" y="2414016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40680" y="241401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94.7%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49440" y="2414016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95160" y="241401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93.9%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74320" y="2880360"/>
            <a:ext cx="20116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" y="28803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6534"/>
                </a:solidFill>
              </a:rPr>
              <a:t>CNN ⭐ Best Recall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0" y="2880360"/>
            <a:ext cx="15544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331720" y="28803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</a:rPr>
              <a:t>97.1%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840480" y="2880360"/>
            <a:ext cx="15544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886200" y="28803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</a:rPr>
              <a:t>93.9%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394960" y="2880360"/>
            <a:ext cx="15544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40680" y="28803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</a:rPr>
              <a:t>99.0%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949440" y="2880360"/>
            <a:ext cx="15544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95160" y="28803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</a:rPr>
              <a:t>96.4%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74320" y="2880360"/>
            <a:ext cx="5486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74320" y="334670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20040" y="33467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LSTM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286000" y="3346704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331720" y="334670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96.4%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3840480" y="3346704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886200" y="334670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92.6%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394960" y="3346704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440680" y="334670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98.7%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949440" y="3346704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995160" y="334670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95.6%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274320" y="3813048"/>
            <a:ext cx="20116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20040" y="38130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DistilBERT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286000" y="3813048"/>
            <a:ext cx="15544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331720" y="381304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91.7%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3840480" y="3813048"/>
            <a:ext cx="15544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886200" y="381304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85.1%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394960" y="3813048"/>
            <a:ext cx="15544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440680" y="381304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95.5%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949440" y="3813048"/>
            <a:ext cx="15544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995160" y="381304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90.0%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274320" y="4434840"/>
            <a:ext cx="8641080" cy="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74320" y="4434840"/>
            <a:ext cx="8641080" cy="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74320" y="4434840"/>
            <a:ext cx="8641080" cy="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74320" y="4416552"/>
            <a:ext cx="864108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11480" y="4434840"/>
            <a:ext cx="8366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3412"/>
                </a:solidFill>
              </a:rPr>
              <a:t>Key: SVM = best accuracy &amp; F1  |  CNN = best recall (safety-critical)  |  Classical ML matched or beat deep learning — model complexity ≠ better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Testing &amp;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Functional Testing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201168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Input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572768"/>
            <a:ext cx="13716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0" y="15727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1572768"/>
            <a:ext cx="86868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0" y="15727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Result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83664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0896" y="1883664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Valid phishing input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1883664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22576" y="18836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All 6 models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1883664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94176" y="1883664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</a:rPr>
              <a:t>PASS 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67712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0896" y="226771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Valid safe input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2267712"/>
            <a:ext cx="1371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22576" y="226771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CNN &amp; LSTM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2267712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94176" y="2267712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</a:rPr>
              <a:t>PASS 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651760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0896" y="26517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Very short input ("Hi")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2651760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22576" y="26517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CNN &amp; LSTM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2651760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94176" y="2651760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</a:rPr>
              <a:t>PASS 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35808"/>
            <a:ext cx="2011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0896" y="303580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Empty string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3035808"/>
            <a:ext cx="1371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322576" y="303580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CNN &amp; LSTM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0" y="3035808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94176" y="3035808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</a:rPr>
              <a:t>PASS 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419856"/>
            <a:ext cx="20116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10896" y="341985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Benign phrase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0" y="3419856"/>
            <a:ext cx="137160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322576" y="34198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</a:rPr>
              <a:t>DistilBERT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0" y="3419856"/>
            <a:ext cx="8686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94176" y="3419856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FAIL ✗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858768"/>
            <a:ext cx="420624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4048" y="3877056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</a:rPr>
              <a:t>DistilBERT classified "I hope this email finds you well" as Phishing (0.94 confidence) — direct consequence of 500-example fine-tuning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Training Dynamics</a:t>
            </a:r>
            <a:endParaRPr lang="en-US" sz="140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4663440" y="1554480"/>
          <a:ext cx="42519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Shape 42"/>
          <p:cNvSpPr/>
          <p:nvPr/>
        </p:nvSpPr>
        <p:spPr>
          <a:xfrm>
            <a:off x="4663440" y="4133088"/>
            <a:ext cx="4251960" cy="8046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773168" y="416052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</a:rPr>
              <a:t>CNN: </a:t>
            </a:r>
            <a:r>
              <a:rPr lang="en-US" sz="1050" dirty="0">
                <a:solidFill>
                  <a:srgbClr val="334155"/>
                </a:solidFill>
              </a:rPr>
              <a:t>stable val accuracy 96.6–96.9% — no overfitting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</a:rPr>
              <a:t>LSTM: </a:t>
            </a:r>
            <a:r>
              <a:rPr lang="en-US" sz="1050" dirty="0">
                <a:solidFill>
                  <a:srgbClr val="334155"/>
                </a:solidFill>
              </a:rPr>
              <a:t>val accuracy drops 96.4→94.0%, val loss 0.101→0.200 — overfitting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Critical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859536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2070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Literature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463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Submitted Dec 2025. Identified 3 key research gaps.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35040" y="128016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35040" y="12801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6534"/>
                </a:solidFill>
              </a:rPr>
              <a:t>Fully Achieved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859536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8470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Data Collection &amp; Preprocessing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1031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18,640 emails, identical pipeline across all 6 models.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92024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6534"/>
                </a:solidFill>
              </a:rPr>
              <a:t>Fully Achieved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8595360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4871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Model Implementation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27432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All 6 models built. Ensemble not implemented (optional).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56032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25603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400E"/>
                </a:solidFill>
              </a:rPr>
              <a:t>Substantially Achieved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090672"/>
            <a:ext cx="859536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312724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Training &amp; Evaluation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33832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4 metrics on same test set of 2,796 emails.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320040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0" y="32004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6534"/>
                </a:solidFill>
              </a:rPr>
              <a:t>Fully Achieved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730752"/>
            <a:ext cx="859536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37673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Analysis &amp; Benchmark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" y="40233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Reproducible benchmark, first fair 6-model comparison.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384048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38404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6534"/>
                </a:solidFill>
              </a:rPr>
              <a:t>Fully Achieved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325112"/>
            <a:ext cx="85953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434340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40AF"/>
                </a:solidFill>
              </a:rPr>
              <a:t>Lessons Learnt: (1) Transformer performance is conditional on adequate fine-tuning data, not architecture alone  |  (2) Strong classical baselines (SVM) should always be established before investing in deep learning  |  (3) Per-epoch monitoring is essential to detect LSTM overfitting early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41248"/>
            <a:ext cx="77724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804672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97840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►  SVM achieved best overall accuracy (97.2%) and F1-score (96.5%) — classical ML outperformed all deep learning models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1490472"/>
            <a:ext cx="804672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►  CNN achieved the highest recall (99.0%) — the most safety-critical metric for phishing detection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020824"/>
            <a:ext cx="804672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03911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►  DistilBERT underperformed (91.7%) due to limited fine-tuning; model complexity does not guarantee better performance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551176"/>
            <a:ext cx="8046720" cy="457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9464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►  This project produced the first fair 6-model benchmark on the same dataset with identical preprocessing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</a:rPr>
              <a:t>Future Work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5844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→  Fine-tune DistilBERT on full dataset with GPU (16GB VRAM, 5–10 epochs)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→  Explore SVM + CNN soft-voting ensemble (complementary strengths)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2793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→  Adversarial robustness testing against evasion attacks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62686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→  Domain-specific datasets (finance, healthcare, universities)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56778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D9488"/>
                </a:solidFill>
              </a:rPr>
              <a:t>Live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113842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</a:rPr>
              <a:t>Demonstration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1959102"/>
            <a:ext cx="78638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97739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1.  Run predict_email_cnn() with phishing input → show Phishing (0.90)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398014"/>
            <a:ext cx="78638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426589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2.  Run predict_email_lstm() with same input → show Phishing (0.95)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836926"/>
            <a:ext cx="78638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854071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3.  Run predict_email_distilbert() with benign phrase → show misclassification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730752"/>
            <a:ext cx="78638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24128" y="37490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6.  Show final accuracy bar chart across all 6 models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4177665"/>
            <a:ext cx="78638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4128" y="4195953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7.  Show training accuracy / loss plots for CNN vs LSTM</a:t>
            </a:r>
            <a:endParaRPr lang="en-US" sz="12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5AFB10EA-C033-ED2B-ADDE-E96AB6B3CF17}"/>
              </a:ext>
            </a:extLst>
          </p:cNvPr>
          <p:cNvSpPr/>
          <p:nvPr/>
        </p:nvSpPr>
        <p:spPr>
          <a:xfrm>
            <a:off x="914400" y="3283839"/>
            <a:ext cx="786384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82E82799-92B7-6111-4B8D-E50B9402051F}"/>
              </a:ext>
            </a:extLst>
          </p:cNvPr>
          <p:cNvSpPr/>
          <p:nvPr/>
        </p:nvSpPr>
        <p:spPr>
          <a:xfrm>
            <a:off x="1051560" y="33061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4.  Run </a:t>
            </a:r>
            <a:r>
              <a:rPr lang="en-US" sz="1200" dirty="0" err="1">
                <a:solidFill>
                  <a:srgbClr val="FFFFFF"/>
                </a:solidFill>
              </a:rPr>
              <a:t>predict_email_ml</a:t>
            </a:r>
            <a:r>
              <a:rPr lang="en-US" sz="1200" dirty="0">
                <a:solidFill>
                  <a:srgbClr val="FFFFFF"/>
                </a:solidFill>
              </a:rPr>
              <a:t>() for Logistic Regression, SVM, and Naïve Bayes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1039</Words>
  <Application>Microsoft Office PowerPoint</Application>
  <PresentationFormat>On-screen Show (16:9)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Email Detection Using Deep Learning</dc:title>
  <dc:subject>PptxGenJS Presentation</dc:subject>
  <dc:creator>PptxGenJS</dc:creator>
  <cp:lastModifiedBy>Abdul-Hannaan Nawaz</cp:lastModifiedBy>
  <cp:revision>2</cp:revision>
  <dcterms:created xsi:type="dcterms:W3CDTF">2026-04-11T05:07:54Z</dcterms:created>
  <dcterms:modified xsi:type="dcterms:W3CDTF">2026-04-28T20:41:44Z</dcterms:modified>
</cp:coreProperties>
</file>